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70" r:id="rId22"/>
    <p:sldId id="260" r:id="rId7"/>
    <p:sldId id="261" r:id="rId8"/>
    <p:sldId id="264" r:id="rId9"/>
    <p:sldId id="271" r:id="rId23"/>
    <p:sldId id="265" r:id="rId10"/>
    <p:sldId id="266" r:id="rId11"/>
    <p:sldId id="267" r:id="rId12"/>
    <p:sldId id="272" r:id="rId24"/>
    <p:sldId id="273" r:id="rId25"/>
    <p:sldId id="274" r:id="rId26"/>
    <p:sldId id="275" r:id="rId27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07459" y="1800000"/>
            <a:ext cx="9524544" cy="1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 b="1" i="0">
                <a:latin typeface="Times New Roman"/>
                <a:cs typeface="Times New Roman"/>
              </a:rPr>
              <a:t>B.Tech</a:t>
            </a:r>
            <a:br/>
            <a:r>
              <a:rPr sz="2000" b="1" i="0">
                <a:latin typeface="Times New Roman"/>
                <a:cs typeface="Times New Roman"/>
              </a:rPr>
              <a:t>BCSE497J – Project-I</a:t>
            </a:r>
            <a:br/>
            <a:r>
              <a:rPr sz="2400" b="1" i="0">
                <a:latin typeface="Times New Roman"/>
                <a:cs typeface="Times New Roman"/>
              </a:rPr>
              <a:t>PUMS: Lesion-Level Joint Conformal Risk Control with Lesion-Equalized Prediction Sets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520000"/>
            <a:ext cx="7071360" cy="2400000"/>
          </a:xfrm>
          <a:prstGeom prst="rect">
            <a:avLst/>
          </a:prstGeom>
        </p:spPr>
        <p:txBody>
          <a:bodyPr vert="horz" wrap="square" lIns="0" tIns="12700" rIns="0" bIns="0" rtlCol="0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i="0">
                <a:latin typeface="Times New Roman"/>
                <a:cs typeface="Times New Roman"/>
              </a:rPr>
              <a:t/>
            </a:r>
            <a:endParaRPr sz="1800" dirty="0">
              <a:latin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latin typeface="Times New Roman"/>
                <a:cs typeface="Times New Roman"/>
              </a:rPr>
              <a:t>Team members: </a:t>
            </a:r>
            <a:r>
              <a:rPr sz="2000" b="0" i="0">
                <a:latin typeface="Times New Roman"/>
                <a:cs typeface="Times New Roman"/>
              </a:rPr>
              <a:t/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latin typeface="Times New Roman"/>
                <a:cs typeface="Times New Roman"/>
              </a:rPr>
              <a:t>• Vansh Bhatiya </a:t>
            </a:r>
            <a:r>
              <a:rPr sz="2000" b="0" i="0">
                <a:latin typeface="Times New Roman"/>
                <a:cs typeface="Times New Roman"/>
              </a:rPr>
              <a:t>			(23BCE0631)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latin typeface="Times New Roman"/>
                <a:cs typeface="Times New Roman"/>
              </a:rPr>
              <a:t>• Mahendra Sajjan Choudhary </a:t>
            </a:r>
            <a:r>
              <a:rPr sz="2000" b="0" i="0">
                <a:latin typeface="Times New Roman"/>
                <a:cs typeface="Times New Roman"/>
              </a:rPr>
              <a:t>	(23BCE0701)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i="0">
                <a:latin typeface="Times New Roman"/>
                <a:cs typeface="Times New Roman"/>
              </a:rPr>
              <a:t/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latin typeface="Times New Roman"/>
                <a:cs typeface="Times New Roman"/>
              </a:rPr>
              <a:t>Faculty guide : </a:t>
            </a:r>
            <a:r>
              <a:rPr sz="2000" b="0" i="0">
                <a:latin typeface="Times New Roman"/>
                <a:cs typeface="Times New Roman"/>
              </a:rPr>
              <a:t/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latin typeface="Times New Roman"/>
                <a:cs typeface="Times New Roman"/>
              </a:rPr>
              <a:t>Dr. Shashank Mouli Satapathy </a:t>
            </a:r>
            <a:r>
              <a:rPr sz="2000" b="0" i="0">
                <a:latin typeface="Times New Roman"/>
                <a:cs typeface="Times New Roman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459" y="3260000"/>
            <a:ext cx="9524544" cy="42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i="1">
                <a:latin typeface="Times New Roman"/>
                <a:cs typeface="Times New Roman"/>
              </a:rPr>
              <a:t>A Post-hoc Framework that Guarantees Lesion-Level, Not Just Pixel-Level, Miss Rates in Medical Image Segmentation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000"/>
            <a:ext cx="10515600" cy="47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latin typeface="Times New Roman"/>
                <a:cs typeface="Times New Roman"/>
              </a:rPr>
              <a:t>Fall Semester Project Review 3, Project ID </a:t>
            </a:r>
            <a:r>
              <a:rPr sz="1900" b="0" i="0">
                <a:latin typeface="Times New Roman"/>
                <a:cs typeface="Times New Roman"/>
              </a:rPr>
              <a:t>&lt;&lt;enter Project ID&gt;&gt;  –  approval requested from the guide by mail before 21-10-2026: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latin typeface="Times New Roman"/>
                <a:cs typeface="Times New Roman"/>
              </a:rPr>
              <a:t>Meeting with Guide Frequently: </a:t>
            </a:r>
            <a:r>
              <a:rPr sz="1900" b="0" i="0">
                <a:latin typeface="Times New Roman"/>
                <a:cs typeface="Times New Roman"/>
              </a:rPr>
              <a:t>Satisfied / Not Satisfied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latin typeface="Times New Roman"/>
                <a:cs typeface="Times New Roman"/>
              </a:rPr>
              <a:t>PowerPoint Presentation: </a:t>
            </a:r>
            <a:r>
              <a:rPr sz="1900" b="0" i="0">
                <a:latin typeface="Times New Roman"/>
                <a:cs typeface="Times New Roman"/>
              </a:rPr>
              <a:t>Approved / Not Approved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latin typeface="Times New Roman"/>
                <a:cs typeface="Times New Roman"/>
              </a:rPr>
              <a:t>Project Demonstration: </a:t>
            </a:r>
            <a:r>
              <a:rPr sz="1900" b="0" i="0">
                <a:latin typeface="Times New Roman"/>
                <a:cs typeface="Times New Roman"/>
              </a:rPr>
              <a:t>Approved / Not Approved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latin typeface="Times New Roman"/>
                <a:cs typeface="Times New Roman"/>
              </a:rPr>
              <a:t>Final Project Report: </a:t>
            </a:r>
            <a:r>
              <a:rPr sz="1900" b="0" i="0">
                <a:latin typeface="Times New Roman"/>
                <a:cs typeface="Times New Roman"/>
              </a:rPr>
              <a:t>Satisfied / Not Satisfied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latin typeface="Times New Roman"/>
                <a:cs typeface="Times New Roman"/>
              </a:rPr>
              <a:t>Project Outcome: </a:t>
            </a:r>
            <a:r>
              <a:rPr sz="1900" b="0" i="0">
                <a:latin typeface="Times New Roman"/>
                <a:cs typeface="Times New Roman"/>
              </a:rPr>
              <a:t>Ongoing  (research-paper draft in preparation)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latin typeface="Times New Roman"/>
                <a:cs typeface="Times New Roman"/>
              </a:rPr>
              <a:t>Turnitin Plagiarism Percentage: </a:t>
            </a:r>
            <a:r>
              <a:rPr sz="1900" b="0" i="0">
                <a:latin typeface="Times New Roman"/>
                <a:cs typeface="Times New Roman"/>
              </a:rPr>
              <a:t>____ %   (insert from the Turnitin report)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latin typeface="Times New Roman"/>
                <a:cs typeface="Times New Roman"/>
              </a:rPr>
              <a:t>Turnitin AI Score: </a:t>
            </a:r>
            <a:r>
              <a:rPr sz="1900" b="0" i="0">
                <a:latin typeface="Times New Roman"/>
                <a:cs typeface="Times New Roman"/>
              </a:rPr>
              <a:t>____   (must be below 25%)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1" i="1">
                <a:solidFill>
                  <a:srgbClr val="C8553D"/>
                </a:solidFill>
                <a:latin typeface="Times New Roman"/>
                <a:cs typeface="Times New Roman"/>
              </a:rPr>
              <a:t>Approval status: to be confirmed by the faculty guide through the required email process. All items above are for the guide to mark.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000"/>
            <a:ext cx="10515600" cy="46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latin typeface="Times New Roman"/>
                <a:cs typeface="Times New Roman"/>
              </a:rPr>
              <a:t> </a:t>
            </a:r>
            <a:r>
              <a:rPr sz="2000" b="0" i="0">
                <a:latin typeface="Times New Roman"/>
                <a:cs typeface="Times New Roman"/>
              </a:rPr>
              <a:t>To build a post-hoc, model-agnostic layer on top of PUMS that guarantees, with finite-sample rigour, that the average pixel miss rate, the lesion miss rate and the small-lesion miss rate of a medical segmentation model all stay below a chosen level α, without retraining the model and without inflating the prediction sets.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latin typeface="Times New Roman"/>
                <a:cs typeface="Times New Roman"/>
              </a:rPr>
              <a:t>Why lesions, not pixels: </a:t>
            </a:r>
            <a:r>
              <a:rPr sz="2000" b="0" i="0">
                <a:latin typeface="Times New Roman"/>
                <a:cs typeface="Times New Roman"/>
              </a:rPr>
              <a:t>big lesions carry most of the pixels, so a pixel guarantee can hold while small lesions are routinely missed. Clinically, the missed small lesion is often the error that matters.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latin typeface="Times New Roman"/>
                <a:cs typeface="Times New Roman"/>
              </a:rPr>
              <a:t>Central idea: </a:t>
            </a:r>
            <a:r>
              <a:rPr sz="2000" b="0" i="0">
                <a:latin typeface="Times New Roman"/>
                <a:cs typeface="Times New Roman"/>
              </a:rPr>
              <a:t/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latin typeface="Times New Roman"/>
                <a:cs typeface="Times New Roman"/>
              </a:rPr>
              <a:t>Posterior p̂  →  score family  →  three risks (pixel, lesion, small lesion)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latin typeface="Times New Roman"/>
                <a:cs typeface="Times New Roman"/>
              </a:rPr>
              <a:t>→  joint threshold λ̂ = max of per-risk CRC thresholds  →  guaranteed prediction set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000"/>
            <a:ext cx="10515600" cy="4800000"/>
          </a:xfrm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sz="2000" b="0" i="0">
                <a:latin typeface="Times New Roman"/>
                <a:cs typeface="Times New Roman"/>
              </a:rPr>
              <a:t>Conformal risk control (CRC) guarantees that a segmentation model's average pixel false-negative rate stays below α. Large lesions carry that guarantee and small lesions are not protected: on Kvasir-SEG, images with several lesions miss lesions at up to 1.56× the target rate.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sz="2000" b="0" i="0">
                <a:latin typeface="Times New Roman"/>
                <a:cs typeface="Times New Roman"/>
              </a:rPr>
              <a:t>This project defines lesion-miss and small-lesion-miss risks on ground-truth connected components and controls them jointly with pixel FNR. The joint guarantee costs at most 0.7% in set size, whereas Learn-Then-Test needs 10–46% larger sets and morphological prediction sets 1–43% larger sets. It also proposes lesion-equalized prediction sets, a new nested family.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sz="2000" b="0" i="0">
                <a:latin typeface="Times New Roman"/>
                <a:cs typeface="Times New Roman"/>
              </a:rPr>
              <a:t>A pre-registered evaluation (FracAtlas, Kvasir-SEG, six baselines, 3 seeds × 1000 splits, plus a simulation) found every guarantee valid. Lesion-equalized sets cut set size by up to 47% in simulation but only tied joint thresholding on real data, where the CPU backbone is weak. A research prototype, not a medical device.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(1/2)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Literature table"/>
          <p:cNvGraphicFramePr>
            <a:graphicFrameLocks noGrp="1"/>
          </p:cNvGraphicFramePr>
          <p:nvPr/>
        </p:nvGraphicFramePr>
        <p:xfrm>
          <a:off x="400000" y="1400000"/>
          <a:ext cx="11399998" cy="3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467"/>
                <a:gridCol w="1811214"/>
                <a:gridCol w="2343925"/>
                <a:gridCol w="2557009"/>
                <a:gridCol w="2237383"/>
              </a:tblGrid>
              <a:tr h="38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Pros / Cons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Angelopoulos et al., ICLR 2024</a:t>
                      </a:r>
                    </a:p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Conformal Risk Control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Control the expected value of any monotone loss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Choose λ̂ on a calibration set so that (n·R̂ + 1)/(n + 1) ≤ α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+ exact at finite n, model-agnostic</a:t>
                      </a:r>
                    </a:p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– marginal only; needs exchangeability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Engine of this project; demonstrated on pixel FNR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Angelopoulos et al., 2021</a:t>
                      </a:r>
                    </a:p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Learn-Then-Test (arXiv 2110.01052)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Risk control for several risks with high probability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Multiple testing over a λ grid (fixed sequence, Hoeffding–Bentkus p-values)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+ stronger high-probability guarantee</a:t>
                      </a:r>
                    </a:p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– conservative, larger sets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Baseline: needs 10–46% larger sets in our tests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Tan et al., 2025</a:t>
                      </a:r>
                    </a:p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Conformal Lesion Segmentation (arXiv 2510.17897)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Guarantee for 3-D lesion segmentation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Calibrates voxel FNR per volume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+ high-probability per volume</a:t>
                      </a:r>
                    </a:p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– loss counts voxels; small lesions not treated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Called lesion-level but a missed small lesion costs only its voxel share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Luo &amp; Zhou, 2025</a:t>
                      </a:r>
                    </a:p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CRA / CCRA / CCRA-S (arXiv 2504.07611)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Conditional pixel-FNR control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Per-stratum thresholds; strata = total predicted mass per image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+ expectation per stratum</a:t>
                      </a:r>
                    </a:p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– strata are images, not lesions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Baseline: −2% to +16% set size vs joint thresholding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00" y="1380000"/>
            <a:ext cx="11115600" cy="28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latin typeface="Times New Roman"/>
                <a:cs typeface="Times New Roman"/>
              </a:rPr>
              <a:t>Pixel-level guarantees: </a:t>
            </a:r>
            <a:r>
              <a:rPr sz="1800" b="0" i="0">
                <a:latin typeface="Times New Roman"/>
                <a:cs typeface="Times New Roman"/>
              </a:rPr>
              <a:t>CRC, CLS, CCRA-S, ReCIRC and per-organ recall state their risk on pixels or voxels, so large lesions dominate the average.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latin typeface="Times New Roman"/>
                <a:cs typeface="Times New Roman"/>
              </a:rPr>
              <a:t>Measured gap: </a:t>
            </a:r>
            <a:r>
              <a:rPr sz="1800" b="0" i="0">
                <a:latin typeface="Times New Roman"/>
                <a:cs typeface="Times New Roman"/>
              </a:rPr>
              <a:t>at the pixel-CRC threshold, images with ≥ 2 lesions miss lesions at 1.56× the target rate (Kvasir-SEG, α = 0.10).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latin typeface="Times New Roman"/>
                <a:cs typeface="Times New Roman"/>
              </a:rPr>
              <a:t>Multi-risk tools </a:t>
            </a:r>
            <a:r>
              <a:rPr sz="1800" b="0" i="0">
                <a:latin typeface="Times New Roman"/>
                <a:cs typeface="Times New Roman"/>
              </a:rPr>
              <a:t>(Learn-Then-Test) exist but give conservative, larger sets. Nobody controls ground-truth-lesion risk jointly with pixel FNR.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latin typeface="Times New Roman"/>
                <a:cs typeface="Times New Roman"/>
              </a:rPr>
              <a:t>Set family: </a:t>
            </a:r>
            <a:r>
              <a:rPr sz="1800" b="0" i="0">
                <a:latin typeface="Times New Roman"/>
                <a:cs typeface="Times New Roman"/>
              </a:rPr>
              <a:t>no work designs the prediction-set family for a lesion loss. Thresholding is forced down by the faintest lesion.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7" name="Novelty table"/>
          <p:cNvGraphicFramePr>
            <a:graphicFrameLocks noGrp="1"/>
          </p:cNvGraphicFramePr>
          <p:nvPr/>
        </p:nvGraphicFramePr>
        <p:xfrm>
          <a:off x="838200" y="4150000"/>
          <a:ext cx="10515599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992"/>
                <a:gridCol w="2313432"/>
                <a:gridCol w="4837175"/>
              </a:tblGrid>
              <a:tr h="54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Claim (literature search of 14 Oct 2026)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Status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Why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1. Risk defined on ground-truth lesions, incl. small lesions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New, supported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No published segmentation risk control defines its loss on ground-truth components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2. Joint control of pixel, lesion and small-lesion risk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New, simple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A corollary of CRC (max of thresholds): a new formulation with a measured gap, not a deep theorem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3. Lesion-equalized prediction sets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New, not yet supported on real data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Wins in simulation (up to −47%), ties on both real datasets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00" y="1330000"/>
            <a:ext cx="11115600" cy="285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0" i="0">
                <a:latin typeface="Times New Roman"/>
                <a:cs typeface="Times New Roman"/>
              </a:rPr>
              <a:t>Define lesion-miss and small-lesion-miss risks on ground-truth components and prove they are CRC-valid under any nested set family.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0" i="0">
                <a:latin typeface="Times New Roman"/>
                <a:cs typeface="Times New Roman"/>
              </a:rPr>
              <a:t>Control them jointly with pixel FNR using a union (max) threshold, with no Bonferroni split.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0" i="0">
                <a:latin typeface="Times New Roman"/>
                <a:cs typeface="Times New Roman"/>
              </a:rPr>
              <a:t>Design lesion-equalized sets: a nested family that keeps the guarantee exact but needs smaller sets.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0" i="0">
                <a:latin typeface="Times New Roman"/>
                <a:cs typeface="Times New Roman"/>
              </a:rPr>
              <a:t>Measure the pixel-to-lesion gap and compare against six baselines under a pre-registered protocol.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0" i="0">
                <a:latin typeface="Times New Roman"/>
                <a:cs typeface="Times New Roman"/>
              </a:rPr>
              <a:t>Integrate the method into the PUMS API and dashboard with full provenance.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4600000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0" y="4600000"/>
            <a:ext cx="2000000" cy="1824786"/>
          </a:xfrm>
          <a:prstGeom prst="rect">
            <a:avLst/>
          </a:prstGeom>
        </p:spPr>
      </p:pic>
      <p:sp>
        <p:nvSpPr>
          <p:cNvPr id="10" name="SDG label"/>
          <p:cNvSpPr txBox="1"/>
          <p:nvPr/>
        </p:nvSpPr>
        <p:spPr>
          <a:xfrm>
            <a:off x="400000" y="4250000"/>
            <a:ext cx="3600000" cy="4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latin typeface="Times New Roman"/>
                <a:cs typeface="Times New Roman"/>
              </a:rPr>
              <a:t>Identified SDGs: </a:t>
            </a:r>
            <a:r>
              <a:rPr sz="1400" b="0" i="0">
                <a:latin typeface="Times New Roman"/>
                <a:cs typeface="Times New Roman"/>
              </a:rPr>
              <a:t>3, 9, 4</a:t>
            </a:r>
          </a:p>
        </p:txBody>
      </p:sp>
      <p:sp>
        <p:nvSpPr>
          <p:cNvPr id="11" name="TRL label"/>
          <p:cNvSpPr txBox="1"/>
          <p:nvPr/>
        </p:nvSpPr>
        <p:spPr>
          <a:xfrm>
            <a:off x="4000000" y="4250000"/>
            <a:ext cx="4000000" cy="4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latin typeface="Times New Roman"/>
                <a:cs typeface="Times New Roman"/>
              </a:rPr>
              <a:t>Technology readiness: </a:t>
            </a:r>
            <a:r>
              <a:rPr sz="1400" b="0" i="0">
                <a:latin typeface="Times New Roman"/>
                <a:cs typeface="Times New Roman"/>
              </a:rPr>
              <a:t>TRL 3 → 4</a:t>
            </a:r>
          </a:p>
        </p:txBody>
      </p:sp>
      <p:sp>
        <p:nvSpPr>
          <p:cNvPr id="12" name="Outcome label"/>
          <p:cNvSpPr txBox="1"/>
          <p:nvPr/>
        </p:nvSpPr>
        <p:spPr>
          <a:xfrm>
            <a:off x="7400000" y="4250000"/>
            <a:ext cx="4400000" cy="2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>
                <a:latin typeface="Times New Roman"/>
                <a:cs typeface="Times New Roman"/>
              </a:rPr>
              <a:t>Outcomes: </a:t>
            </a:r>
            <a:r>
              <a:rPr sz="1300" b="0" i="0">
                <a:latin typeface="Times New Roman"/>
                <a:cs typeface="Times New Roman"/>
              </a:rPr>
              <a:t/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Conference paper (LNCS / MICCAI format): draft complete, target MICCAI UNSURE workshop, not yet submitted.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Open reproducible code, pre-registration and live demo.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0000" y="1400000"/>
            <a:ext cx="3400000" cy="47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latin typeface="Times New Roman"/>
                <a:cs typeface="Times New Roman"/>
              </a:rPr>
              <a:t>Top row: </a:t>
            </a:r>
            <a:r>
              <a:rPr sz="1500" b="0" i="0">
                <a:latin typeface="Times New Roman"/>
                <a:cs typeface="Times New Roman"/>
              </a:rPr>
              <a:t>the Project-I PUMS pipeline, unchanged.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latin typeface="Times New Roman"/>
                <a:cs typeface="Times New Roman"/>
              </a:rPr>
              <a:t>Teal row: </a:t>
            </a:r>
            <a:r>
              <a:rPr sz="1500" b="0" i="0">
                <a:latin typeface="Times New Roman"/>
                <a:cs typeface="Times New Roman"/>
              </a:rPr>
              <a:t>the new layer. It consumes only the posterior p̂, so any segmenter can be swapped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latin typeface="Times New Roman"/>
                <a:cs typeface="Times New Roman"/>
              </a:rPr>
              <a:t>Three disjoint splits: </a:t>
            </a:r>
            <a:r>
              <a:rPr sz="1500" b="0" i="0">
                <a:latin typeface="Times New Roman"/>
                <a:cs typeface="Times New Roman"/>
              </a:rPr>
              <a:t>tune picks the score family, calibrate sets λ̂, test measures the result. This keeps the guarantee exact.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latin typeface="Times New Roman"/>
                <a:cs typeface="Times New Roman"/>
              </a:rPr>
              <a:t>Output: </a:t>
            </a:r>
            <a:r>
              <a:rPr sz="1500" b="0" i="0">
                <a:latin typeface="Times New Roman"/>
                <a:cs typeface="Times New Roman"/>
              </a:rPr>
              <a:t>results JSON → FastAPI → dashboard.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/ Architecture / 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Architecture figure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400000"/>
            <a:ext cx="8000000" cy="41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00" y="1380000"/>
            <a:ext cx="11115600" cy="48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latin typeface="Times New Roman"/>
                <a:cs typeface="Times New Roman"/>
              </a:rPr>
              <a:t>Load images (PNG, JPEG, TIFF, DICOM) and the public datasets FracAtlas (COCO polygons) and Kvasir-SEG.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latin typeface="Times New Roman"/>
                <a:cs typeface="Times New Roman"/>
              </a:rPr>
              <a:t>Produce out-of-fold posteriors by 5-fold cross-fitting, with a sha256 manifest.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latin typeface="Times New Roman"/>
                <a:cs typeface="Times New Roman"/>
              </a:rPr>
              <a:t>Compute pixel, lesion-miss and small-lesion-miss losses per image (connected components, τ = 50%).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latin typeface="Times New Roman"/>
                <a:cs typeface="Times New Roman"/>
              </a:rPr>
              <a:t>Select thresholds by CRC: union, max-form, Learn-Then-Test, morphological and CCRA-S strata.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latin typeface="Times New Roman"/>
                <a:cs typeface="Times New Roman"/>
              </a:rPr>
              <a:t>Choose the score family (ρ, t₀) on a disjoint tuning split.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latin typeface="Times New Roman"/>
                <a:cs typeface="Times New Roman"/>
              </a:rPr>
              <a:t>Report validity (mean test risk ≤ α) and set size for every method, with pre-registered verdicts.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latin typeface="Times New Roman"/>
                <a:cs typeface="Times New Roman"/>
              </a:rPr>
              <a:t>Serve results at GET /api/research/mgcrc and show them in the Lesion-level CRC tab and /showcase demo.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latin typeface="Times New Roman"/>
                <a:cs typeface="Times New Roman"/>
              </a:rPr>
              <a:t>Keep every Project-I function: uncertainty heat-map, calibration, shift warning, risk signal, provenance tags.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Module table"/>
          <p:cNvGraphicFramePr>
            <a:graphicFrameLocks noGrp="1"/>
          </p:cNvGraphicFramePr>
          <p:nvPr/>
        </p:nvGraphicFramePr>
        <p:xfrm>
          <a:off x="450000" y="1420000"/>
          <a:ext cx="11299999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7422"/>
                <a:gridCol w="3727835"/>
                <a:gridCol w="5824742"/>
              </a:tblGrid>
              <a:tr h="45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File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Families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backend/app/calibration/families.py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Threshold, dilation and lesion-equalized score transforms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Losses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backend/app/calibration/losses.py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Per-image grid counts for the three risks (one sort per image)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Selection rules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backend/app/calibration/joint.py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CRC, union, max-form, LTT, strata, family selection, evaluation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App method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backend/app/calibration/lesion_crc.py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lesion_aware_crc and morphological_conformal in the method registry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backend/app/datasets/loaders.py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FracAtlas COCO-polygon loader (new)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Backbones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backend/scripts/experiments/train_backbone*.py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5-fold cross-fitting: CPU random forest, U-Net, 3-D Task08 pipeline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Experiments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mgcrc.py, simulation.py, posthoc_multi.py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E1–E8, then aggregate.py for verdicts and paper_macros.py for paper numbers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API + UI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api/routes/research.py; frontend/app/research, /showcase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Results endpoint, Lesion-level CRC tab, live demo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0000" y="5700000"/>
            <a:ext cx="11300000" cy="6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>
                <a:latin typeface="Times New Roman"/>
                <a:cs typeface="Times New Roman"/>
              </a:rPr>
              <a:t>Tests: 123 backend + 29 frontend, including loss monotonicity, a brute-force check of Lemma 2, a Monte-Carlo validity check and an API contract test. CI runs pytest, typecheck, lint and node tests.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00" y="1380000"/>
            <a:ext cx="5600000" cy="48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latin typeface="Times New Roman"/>
                <a:cs typeface="Times New Roman"/>
              </a:rPr>
              <a:t>Pre-registered </a:t>
            </a:r>
            <a:r>
              <a:rPr sz="1500" b="0" i="0">
                <a:latin typeface="Times New Roman"/>
                <a:cs typeface="Times New Roman"/>
              </a:rPr>
              <a:t>before any result; two dated amendments (backbone change; simulation added, debug runs disclosed).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latin typeface="Times New Roman"/>
                <a:cs typeface="Times New Roman"/>
              </a:rPr>
              <a:t>Backbone: </a:t>
            </a:r>
            <a:r>
              <a:rPr sz="1500" b="0" i="0">
                <a:latin typeface="Times New Roman"/>
                <a:cs typeface="Times New Roman"/>
              </a:rPr>
              <a:t>random forest on a multiscale filter bank, 5-fold cross-fitting, so every posterior is out-of-fold.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latin typeface="Times New Roman"/>
                <a:cs typeface="Times New Roman"/>
              </a:rPr>
              <a:t>Repetitions: </a:t>
            </a:r>
            <a:r>
              <a:rPr sz="1500" b="0" i="0">
                <a:latin typeface="Times New Roman"/>
                <a:cs typeface="Times New Roman"/>
              </a:rPr>
              <a:t>3 seeds × 1000 random splits (tune 20% / calibrate 40% / test 40%).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latin typeface="Times New Roman"/>
                <a:cs typeface="Times New Roman"/>
              </a:rPr>
              <a:t>Baselines: </a:t>
            </a:r>
            <a:r>
              <a:rPr sz="1500" b="0" i="0">
                <a:latin typeface="Times New Roman"/>
                <a:cs typeface="Times New Roman"/>
              </a:rPr>
              <a:t>pixel CRC, joint thresholding (reference), max-form, Learn-Then-Test, morphological, CCRA-S.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latin typeface="Times New Roman"/>
                <a:cs typeface="Times New Roman"/>
              </a:rPr>
              <a:t>Metric: </a:t>
            </a:r>
            <a:r>
              <a:rPr sz="1500" b="0" i="0">
                <a:latin typeface="Times New Roman"/>
                <a:cs typeface="Times New Roman"/>
              </a:rPr>
              <a:t>set-to-truth ratio Σ|S| / Σ|Y| at a threshold covering all three risks; validity = mean test risk ≤ α.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Results: Setup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ataset table"/>
          <p:cNvGraphicFramePr>
            <a:graphicFrameLocks noGrp="1"/>
          </p:cNvGraphicFramePr>
          <p:nvPr/>
        </p:nvGraphicFramePr>
        <p:xfrm>
          <a:off x="6600000" y="1500000"/>
          <a:ext cx="5199998" cy="28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518"/>
                <a:gridCol w="1540740"/>
                <a:gridCol w="1540740"/>
              </a:tblGrid>
              <a:tr h="47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/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FracAtlas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Kvasir-SEG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Modality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X-ray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Colonoscopy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719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1000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≥ 2 lesions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159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48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Small lesion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234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312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Backbone Dice (out-of-fold)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0.057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0.413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00000" y="4450000"/>
            <a:ext cx="5200000" cy="1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FracAtlas results describe a near-failing segmenter (Dice 0.057). Kvasir-SEG has few multi-lesion images and serves as a near single-lesion control.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00" y="1380000"/>
            <a:ext cx="5700000" cy="4800000"/>
          </a:xfrm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sz="2000" b="1" i="0">
                <a:latin typeface="Times New Roman"/>
                <a:cs typeface="Times New Roman"/>
              </a:rPr>
              <a:t>Conclusion </a:t>
            </a:r>
            <a:r>
              <a:rPr sz="2000" b="0" i="0">
                <a:latin typeface="Times New Roman"/>
                <a:cs typeface="Times New Roman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latin typeface="Times New Roman"/>
                <a:cs typeface="Times New Roman"/>
              </a:rPr>
              <a:t>Pixel guarantees really do hide missed lesions: up to 1.56α in multi-lesion images.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latin typeface="Times New Roman"/>
                <a:cs typeface="Times New Roman"/>
              </a:rPr>
              <a:t>Joint lesion-level control is cheap (≤ 0.7%) and beats Learn-Then-Test and morphological sets on set size. Every guarantee held.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latin typeface="Times New Roman"/>
                <a:cs typeface="Times New Roman"/>
              </a:rPr>
              <a:t>Lesion-equalized sets: −47% in simulation, a tie on real data. This is stated openly.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latin typeface="Times New Roman"/>
                <a:cs typeface="Times New Roman"/>
              </a:rPr>
              <a:t>Research prototype; no clinical claims.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uture work"/>
          <p:cNvSpPr txBox="1"/>
          <p:nvPr/>
        </p:nvSpPr>
        <p:spPr>
          <a:xfrm>
            <a:off x="6300000" y="1380000"/>
            <a:ext cx="56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sz="2000" b="1" i="0">
                <a:latin typeface="Times New Roman"/>
                <a:cs typeface="Times New Roman"/>
              </a:rPr>
              <a:t>Future Work </a:t>
            </a:r>
            <a:r>
              <a:rPr sz="2000" b="0" i="0">
                <a:latin typeface="Times New Roman"/>
                <a:cs typeface="Times New Roman"/>
              </a:rPr>
              <a:t/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0" i="0">
                <a:latin typeface="Times New Roman"/>
                <a:cs typeface="Times New Roman"/>
              </a:rPr>
              <a:t>GPU U-Net / nnU-Net backbone and 3-D MSD Task08 multi-tumour data (both pipelines implemented, not yet run): the decisive test of H2.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0" i="0">
                <a:latin typeface="Times New Roman"/>
                <a:cs typeface="Times New Roman"/>
              </a:rPr>
              <a:t>Make the conditional multi-lesion risk a first-class option.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0" i="0">
                <a:latin typeface="Times New Roman"/>
                <a:cs typeface="Times New Roman"/>
              </a:rPr>
              <a:t>Weighted conformal to restore validity under the shift PUMS already detects.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800" b="0" i="0">
                <a:latin typeface="Times New Roman"/>
                <a:cs typeface="Times New Roman"/>
              </a:rPr>
              <a:t>Submit the paper (MICCAI UNSURE workshop).</a:t>
            </a: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000"/>
            <a:ext cx="10515600" cy="35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latin typeface="Times New Roman"/>
                <a:cs typeface="Times New Roman"/>
              </a:rPr>
              <a:t>Patent: </a:t>
            </a:r>
            <a:r>
              <a:rPr sz="2000" b="0" i="0">
                <a:latin typeface="Times New Roman"/>
                <a:cs typeface="Times New Roman"/>
              </a:rPr>
              <a:t>not filed.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latin typeface="Times New Roman"/>
                <a:cs typeface="Times New Roman"/>
              </a:rPr>
              <a:t>International conference proceedings: </a:t>
            </a:r>
            <a:r>
              <a:rPr sz="2000" b="0" i="0">
                <a:latin typeface="Times New Roman"/>
                <a:cs typeface="Times New Roman"/>
              </a:rPr>
              <a:t>paper draft complete (LNCS / MICCAI format); target MICCAI UNSURE workshop; not yet submitted.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latin typeface="Times New Roman"/>
                <a:cs typeface="Times New Roman"/>
              </a:rPr>
              <a:t>Journal publication: </a:t>
            </a:r>
            <a:r>
              <a:rPr sz="2000" b="0" i="0">
                <a:latin typeface="Times New Roman"/>
                <a:cs typeface="Times New Roman"/>
              </a:rPr>
              <a:t>none yet.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latin typeface="Times New Roman"/>
                <a:cs typeface="Times New Roman"/>
              </a:rPr>
              <a:t>Start-up information: </a:t>
            </a:r>
            <a:r>
              <a:rPr sz="2000" b="0" i="0">
                <a:latin typeface="Times New Roman"/>
                <a:cs typeface="Times New Roman"/>
              </a:rPr>
              <a:t>none.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latin typeface="Times New Roman"/>
                <a:cs typeface="Times New Roman"/>
              </a:rPr>
              <a:t>Others: </a:t>
            </a:r>
            <a:r>
              <a:rPr sz="2000" b="0" i="0">
                <a:latin typeface="Times New Roman"/>
                <a:cs typeface="Times New Roman"/>
              </a:rPr>
              <a:t>pre-registration, open reproducible code (one-command reproduce, CI), 123 + 29 tests, live demo.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38200" y="5250000"/>
            <a:ext cx="10515600" cy="9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Times New Roman"/>
                <a:cs typeface="Times New Roman"/>
              </a:rPr>
              <a:t>Outcome achieved proof to be uploaded on or before 27 Oct 2026 in the given link </a:t>
            </a:r>
            <a:r>
              <a:rPr sz="1600" b="0" i="0">
                <a:solidFill>
                  <a:srgbClr val="C00000"/>
                </a:solidFill>
                <a:latin typeface="Times New Roman"/>
                <a:cs typeface="Times New Roman"/>
              </a:rPr>
              <a:t>https://forms.gle/B9B71VPy5b9bZ9dJ8</a:t>
            </a:r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0000" y="1250000"/>
            <a:ext cx="11300000" cy="50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[1] A. N. Angelopoulos, S. Bates, A. Fisch, L. Lei and T. Schuster, “Conformal Risk Control,” in Proc. ICLR, 2024.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[2] A. N. Angelopoulos, S. Bates, E. J. Candès, M. I. Jordan and L. Lei, “Learn then Test: Calibrating Predictive Algorithms to Achieve Risk Control,” arXiv:2110.01052, 2021.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[3] S. Bates, A. Angelopoulos, L. Lei, J. Malik and M. Jordan, “Distribution-Free, Risk-Controlling Prediction Sets,” J. ACM, vol. 68, no. 6, 2021.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[4] B. Tan, Z. Wang et al., “Conformal Lesion Segmentation for 3D Medical Images,” arXiv:2510.17897, 2025.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[5] R. Luo and Z. Zhou, “Conditional Conformal Risk Adaptation,” arXiv:2504.07611, 2025.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[6] L. Mossina and C. Friedrich, “Conformal Prediction for Image Segmentation Using Morphological Prediction Sets,” in Proc. MICCAI, 2025.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[7] ReCIRC: Rectified Conformal Risk Control, arXiv:2609.38112, 2026.   Per-organ recall risk control, arXiv:2608.18193, 2026.   FDR in medical instance segmentation via CRC, arXiv:2504.04482, 2025.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[8] L. Andéol, T. Fel, F. de Grancey and L. Mossina, “Confident Object Detection via Conformal Prediction and Conformal Risk Control,” in Proc. COPA (PMLR 204), 2023.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[9] I. Abedeen et al., “FracAtlas: A Dataset for Fracture Classification, Localization and Segmentation of Musculoskeletal Radiographs,” Scientific Data, vol. 10, p. 521, 2023.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[10] D. Jha et al., “Kvasir-SEG: A Segmented Polyp Dataset,” in Proc. MMM, 2020.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00" b="0" i="0">
                <a:latin typeface="Times New Roman"/>
                <a:cs typeface="Times New Roman"/>
              </a:rPr>
              <a:t>[11] M. Antonelli et al., “The Medical Segmentation Decathlon,” Nature Communications, vol. 13, art. 4128, 2022.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(2/2)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Literature table"/>
          <p:cNvGraphicFramePr>
            <a:graphicFrameLocks noGrp="1"/>
          </p:cNvGraphicFramePr>
          <p:nvPr/>
        </p:nvGraphicFramePr>
        <p:xfrm>
          <a:off x="400000" y="1400000"/>
          <a:ext cx="11399998" cy="4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467"/>
                <a:gridCol w="1811214"/>
                <a:gridCol w="2343925"/>
                <a:gridCol w="2557009"/>
                <a:gridCol w="2237383"/>
              </a:tblGrid>
              <a:tr h="38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Pros / Cons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</a:p>
                  </a:txBody>
                  <a:tcPr marL="60000" marR="60000" marT="35000" marB="35000" anchor="ctr">
                    <a:solidFill>
                      <a:srgbClr val="028090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Mossina &amp; Friedrich, MICCAI 2025</a:t>
                      </a:r>
                    </a:p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Morphological prediction sets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Sets that contain the ground-truth mask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Dilate the predicted mask by a calibrated radius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+ simple, high-probability</a:t>
                      </a:r>
                    </a:p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– one risk; containment loss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Baseline: 1–43% larger sets at the same guarantee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ReCIRC, arXiv 2609.38112 (2026)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Per-image budget for pixel FNR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Rectified conformal risk control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+ approximate conditional validity</a:t>
                      </a:r>
                    </a:p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– pixel loss only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Orthogonal; can be combined with our family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Per-organ recall, arXiv 2608.18193 (2026)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Recall control per organ under shift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RCPS with Bonferroni over organs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+ organ-wise guarantee</a:t>
                      </a:r>
                    </a:p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– organs are not lesions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No component-level loss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FDR for instance segmentation, arXiv 2504.04482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Control pixel FDR or FNR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CRC on one loss at a time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+ expectation guarantee</a:t>
                      </a:r>
                    </a:p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– one risk at a time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Not simultaneous, not lesion-level</a:t>
                      </a:r>
                    </a:p>
                  </a:txBody>
                  <a:tcPr marL="60000" marR="60000" marT="35000" marB="35000" anchor="ctr"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Andéol et al., COPA 2023</a:t>
                      </a:r>
                    </a:p>
                    <a:p>
                      <a:r>
                        <a:rPr sz="1200" b="1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Object detection with CRC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Confident object detection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Box-wise or pixel recall, one at a time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+ nearest object-level loss</a:t>
                      </a:r>
                    </a:p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– detection, not segmentation sets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  <a:cs typeface="Times New Roman"/>
                        </a:rPr>
                        <a:t>Closest idea; not for segmentation</a:t>
                      </a:r>
                    </a:p>
                  </a:txBody>
                  <a:tcPr marL="60000" marR="60000" marT="35000" marB="35000" anchor="ctr">
                    <a:solidFill>
                      <a:srgbClr val="E6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00" y="1330000"/>
            <a:ext cx="11115600" cy="175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latin typeface="Times New Roman"/>
                <a:cs typeface="Times New Roman"/>
              </a:rPr>
              <a:t>Three losses: </a:t>
            </a:r>
            <a:r>
              <a:rPr sz="1600" b="0" i="0">
                <a:latin typeface="Times New Roman"/>
                <a:cs typeface="Times New Roman"/>
              </a:rPr>
              <a:t>pixel FNR, lesion miss (a lesion is found if ≥ 50% of it is inside the set), small-lesion miss (lesions below the 33rd size percentile).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latin typeface="Times New Roman"/>
                <a:cs typeface="Times New Roman"/>
              </a:rPr>
              <a:t>Joint threshold: </a:t>
            </a:r>
            <a:r>
              <a:rPr sz="1600" b="0" i="0">
                <a:latin typeface="Times New Roman"/>
                <a:cs typeface="Times New Roman"/>
              </a:rPr>
              <a:t>λ̂ = max over risks of each CRC threshold, so every risk is ≤ α in expectation at once.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latin typeface="Times New Roman"/>
                <a:cs typeface="Times New Roman"/>
              </a:rPr>
              <a:t>Lesion-equalized score: </a:t>
            </a:r>
            <a:r>
              <a:rPr sz="1600" b="0" i="0">
                <a:latin typeface="Times New Roman"/>
                <a:cs typeface="Times New Roman"/>
              </a:rPr>
              <a:t>inside each candidate component of {p̂ ≥ t₀}, s = p̂ / peak^ρ; ρ = 0 is plain thresholding.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Lesion-Equalized Sets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Mechanism figure" descr="fig_m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000" y="3250000"/>
            <a:ext cx="8400000" cy="37039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000" y="1400000"/>
            <a:ext cx="5100000" cy="48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latin typeface="Times New Roman"/>
                <a:cs typeface="Times New Roman"/>
              </a:rPr>
              <a:t>Validity: </a:t>
            </a:r>
            <a:r>
              <a:rPr sz="1600" b="0" i="0">
                <a:latin typeface="Times New Roman"/>
                <a:cs typeface="Times New Roman"/>
              </a:rPr>
              <a:t>every method met every guarantee it claims on held-out data, at every α, on both datasets.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latin typeface="Times New Roman"/>
                <a:cs typeface="Times New Roman"/>
              </a:rPr>
              <a:t>H1 (gap), Kvasir-SEG: </a:t>
            </a:r>
            <a:r>
              <a:rPr sz="1600" b="0" i="0">
                <a:latin typeface="Times New Roman"/>
                <a:cs typeface="Times New Roman"/>
              </a:rPr>
              <a:t>multi-lesion images miss lesions at 1.56α (α = 0.10). Verdict PROCEED.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latin typeface="Times New Roman"/>
                <a:cs typeface="Times New Roman"/>
              </a:rPr>
              <a:t>FracAtlas: </a:t>
            </a:r>
            <a:r>
              <a:rPr sz="1600" b="0" i="0">
                <a:latin typeface="Times New Roman"/>
                <a:cs typeface="Times New Roman"/>
              </a:rPr>
              <a:t>1.14α, but the interval is wide (about 95 multi-lesion images per calibration split). Verdict INCONCLUSIVE.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latin typeface="Times New Roman"/>
                <a:cs typeface="Times New Roman"/>
              </a:rPr>
              <a:t>Bars: </a:t>
            </a:r>
            <a:r>
              <a:rPr sz="1600" b="0" i="0">
                <a:latin typeface="Times New Roman"/>
                <a:cs typeface="Times New Roman"/>
              </a:rPr>
              <a:t>G = lesion-miss ÷ α at the pixel-CRC threshold; error bars are 95% split intervals.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Results: Validity and the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ap figure" descr="fig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450000"/>
            <a:ext cx="6100000" cy="38928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0000" y="1400000"/>
            <a:ext cx="4750000" cy="48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latin typeface="Times New Roman"/>
                <a:cs typeface="Times New Roman"/>
              </a:rPr>
              <a:t>Joint lesion control costs ≤ 0.7% </a:t>
            </a:r>
            <a:r>
              <a:rPr sz="1600" b="0" i="0">
                <a:latin typeface="Times New Roman"/>
                <a:cs typeface="Times New Roman"/>
              </a:rPr>
              <a:t>set size over pixel-only CRC.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latin typeface="Times New Roman"/>
                <a:cs typeface="Times New Roman"/>
              </a:rPr>
              <a:t>Learn-Then-Test needs +10–46%, </a:t>
            </a:r>
            <a:r>
              <a:rPr sz="1600" b="0" i="0">
                <a:latin typeface="Times New Roman"/>
                <a:cs typeface="Times New Roman"/>
              </a:rPr>
              <a:t>morphological sets +1–43%, CCRA-S −2% to +16%. LTT's high-probability guarantee is stronger, so it is not like-for-like.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latin typeface="Times New Roman"/>
                <a:cs typeface="Times New Roman"/>
              </a:rPr>
              <a:t>H2 FAILED: </a:t>
            </a:r>
            <a:r>
              <a:rPr sz="1600" b="0" i="0">
                <a:latin typeface="Times New Roman"/>
                <a:cs typeface="Times New Roman"/>
              </a:rPr>
              <a:t>lesion-equalized sets tied joint thresholding (+0.3% to +3.6%). With the weak CPU backbone the pixel constraint binds, so there is nothing to save.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Results: Cost of the Guarantee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st figure" descr="fig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500000"/>
            <a:ext cx="6500000" cy="35697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00" y="1330000"/>
            <a:ext cx="11115600" cy="175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latin typeface="Times New Roman"/>
                <a:cs typeface="Times New Roman"/>
              </a:rPr>
              <a:t>Simulation (E7): </a:t>
            </a:r>
            <a:r>
              <a:rPr sz="1500" b="0" i="0">
                <a:latin typeface="Times New Roman"/>
                <a:cs typeface="Times New Roman"/>
              </a:rPr>
              <a:t>up to −47% set size when small lesions are moderately faint (γ = 0.5–1); about 0 when they sink into background (γ ≥ 1.5). The pre-registered rule FAILED, but the mechanism is confirmed in its regime.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latin typeface="Times New Roman"/>
                <a:cs typeface="Times New Roman"/>
              </a:rPr>
              <a:t>Post-hoc E8 (not pre-registered): </a:t>
            </a:r>
            <a:r>
              <a:rPr sz="1500" b="0" i="0">
                <a:latin typeface="Times New Roman"/>
                <a:cs typeface="Times New Roman"/>
              </a:rPr>
              <a:t>adding a risk on images with ≥ 2 lesions roughly halves their miss rate on Kvasir (0.155 → 0.076 at α = 0.10) for 16–28% larger sets.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Results: Simulation and Multi-lesion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Simulation figure" descr="fig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3250000"/>
            <a:ext cx="6900000" cy="3098369"/>
          </a:xfrm>
          <a:prstGeom prst="rect">
            <a:avLst/>
          </a:prstGeom>
        </p:spPr>
      </p:pic>
      <p:pic>
        <p:nvPicPr>
          <p:cNvPr id="8" name="E8 figure" descr="fig_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3250000"/>
            <a:ext cx="4300000" cy="27121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000" y="1400000"/>
            <a:ext cx="4250000" cy="48000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latin typeface="Times New Roman"/>
                <a:cs typeface="Times New Roman"/>
              </a:rPr>
              <a:t>Lesion Set Lab </a:t>
            </a:r>
            <a:r>
              <a:rPr sz="1400" b="0" i="0">
                <a:latin typeface="Times New Roman"/>
                <a:cs typeface="Times New Roman"/>
              </a:rPr>
              <a:t>(/showcase): the full method runs in the browser on 300 synthetic scans: calibrates three risks, then compares thresholding with lesion-equalized sets on held-out scans.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latin typeface="Times New Roman"/>
                <a:cs typeface="Times New Roman"/>
              </a:rPr>
              <a:t>Live steps: </a:t>
            </a:r>
            <a:r>
              <a:rPr sz="1400" b="0" i="0">
                <a:latin typeface="Times New Roman"/>
                <a:cs typeface="Times New Roman"/>
              </a:rPr>
              <a:t>move the faintness slider γ, press Recalibrate, then jump to a scan where the two methods differ.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latin typeface="Times New Roman"/>
                <a:cs typeface="Times New Roman"/>
              </a:rPr>
              <a:t>Dashboard: </a:t>
            </a:r>
            <a:r>
              <a:rPr sz="1400" b="0" i="0">
                <a:latin typeface="Times New Roman"/>
                <a:cs typeface="Times New Roman"/>
              </a:rPr>
              <a:t>/research → Lesion-level CRC tab: α selector, set-size chart, risk and gap tables, verdict badges.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latin typeface="Times New Roman"/>
                <a:cs typeface="Times New Roman"/>
              </a:rPr>
              <a:t>Screenshot: </a:t>
            </a:r>
            <a:r>
              <a:rPr sz="1400" b="0" i="0">
                <a:latin typeface="Times New Roman"/>
                <a:cs typeface="Times New Roman"/>
              </a:rPr>
              <a:t>Lesion Set Lab at γ = 0.5, α = 0.10 (−43.5% set size on this run).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28-10-2026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Demo screenshot" descr="shot_lab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450000"/>
            <a:ext cx="7000000" cy="35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0000" y="5100000"/>
            <a:ext cx="7000000" cy="9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>
                <a:latin typeface="Times New Roman"/>
                <a:cs typeface="Times New Roman"/>
              </a:rPr>
              <a:t>Run it: </a:t>
            </a:r>
            <a:r>
              <a:rPr sz="1200" b="0" i="0">
                <a:latin typeface="Times New Roman"/>
                <a:cs typeface="Times New Roman"/>
              </a:rPr>
              <a:t>open docs/showcase/lesion-set-lab.html, or run the frontend and go to /showcase.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